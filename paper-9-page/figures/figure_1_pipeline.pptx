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Lever-based Interventional Attribution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37260"/>
            <a:ext cx="1005840" cy="41148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3726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48940"/>
            <a:ext cx="1005840" cy="41148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9489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69180"/>
            <a:ext cx="1005840" cy="41148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8691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670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E9E9E"/>
                </a:solidFill>
                <a:latin typeface="Calibri"/>
              </a:defRPr>
            </a:pPr>
            <a:r>
              <a:t>Candidate</a:t>
            </a:r>
            <a:br/>
            <a: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787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E9E9E"/>
                </a:solidFill>
                <a:latin typeface="Calibri"/>
              </a:defRPr>
            </a:pPr>
            <a:r>
              <a:t>Stochastic</a:t>
            </a:r>
            <a:br/>
            <a:r>
              <a:t>Intervention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989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E9E9E"/>
                </a:solidFill>
                <a:latin typeface="Calibri"/>
              </a:defRPr>
            </a:pPr>
            <a:r>
              <a:t>Model-based</a:t>
            </a:r>
            <a:br/>
            <a:r>
              <a:t>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365760"/>
            <a:ext cx="10241280" cy="1554480"/>
          </a:xfrm>
          <a:prstGeom prst="roundRect">
            <a:avLst>
              <a:gd name="adj" fmla="val 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20240" y="5257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953c0b-6b22-4a31-932a-f5001150321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598932"/>
            <a:ext cx="1408176" cy="7498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14904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b="1" i="0">
                <a:solidFill>
                  <a:srgbClr val="4A4A4A"/>
                </a:solidFill>
                <a:latin typeface="Calibri"/>
              </a:rPr>
              <a:t>Original Image x</a:t>
            </a:r>
          </a:p>
          <a:p>
            <a:pPr algn="ctr">
              <a:spcAft>
                <a:spcPts val="100"/>
              </a:spcAft>
            </a:pPr>
            <a:r>
              <a:rPr sz="600" b="0" i="1">
                <a:solidFill>
                  <a:srgbClr val="9E9E9E"/>
                </a:solidFill>
                <a:latin typeface="Calibri"/>
              </a:rPr>
              <a:t>(Input Street-View)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11880" y="114300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114800" y="109728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525780"/>
            <a:ext cx="2286000" cy="123444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68580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Intervention Vocabulary</a:t>
            </a:r>
          </a:p>
          <a:p>
            <a:pPr algn="ctr">
              <a:spcAft>
                <a:spcPts val="100"/>
              </a:spcAft>
            </a:pPr>
            <a:r>
              <a:rPr sz="900" b="0" i="0">
                <a:solidFill>
                  <a:srgbClr val="C8C8C8"/>
                </a:solidFill>
                <a:latin typeface="Calibri"/>
              </a:rPr>
              <a:t>+</a:t>
            </a:r>
          </a:p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Scene Grounding</a:t>
            </a:r>
          </a:p>
          <a:p>
            <a:pPr algn="ctr">
              <a:spcAft>
                <a:spcPts val="100"/>
              </a:spcAft>
            </a:pPr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700" b="0" i="1">
                <a:solidFill>
                  <a:srgbClr val="C8C8C8"/>
                </a:solidFill>
                <a:latin typeface="Calibri"/>
              </a:rPr>
              <a:t>Ontology × Visible cues → L(x)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20840" y="114300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223760" y="109728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94183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instantiate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525780"/>
            <a:ext cx="42976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5257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4A4A4A"/>
                </a:solidFill>
                <a:latin typeface="Calibri"/>
              </a:defRPr>
            </a:pPr>
            <a:r>
              <a:t>L(x)  Instantiated Lever 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8869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onsolas"/>
              </a:defRPr>
            </a:pPr>
            <a:r>
              <a:t>l₁ = (c, s, d, 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8869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E6E6E"/>
                </a:solidFill>
                <a:latin typeface="Consolas"/>
              </a:defRPr>
            </a:pPr>
            <a:r>
              <a:t>Graffiti, Wall_1, Remove, [Masked_Edit]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108813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onsolas"/>
              </a:defRPr>
            </a:pPr>
            <a:r>
              <a:t>l₂ = (c, s, d, 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10881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E6E6E"/>
                </a:solidFill>
                <a:latin typeface="Consolas"/>
              </a:defRPr>
            </a:pPr>
            <a:r>
              <a:t>Lane_Marking, Road, Repaint, [Line_Edit]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12893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onsolas"/>
              </a:defRPr>
            </a:pPr>
            <a:r>
              <a:t>l₃ = (c, s, d, 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2893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E6E6E"/>
                </a:solidFill>
                <a:latin typeface="Consolas"/>
              </a:defRPr>
            </a:pPr>
            <a:r>
              <a:t>Greenery, Entrance_1, Add, [Modest_Plant]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14904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onsolas"/>
              </a:defRPr>
            </a:pPr>
            <a:r>
              <a:t>l₄ = (c, s, d, 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14904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E6E6E"/>
                </a:solidFill>
                <a:latin typeface="Consolas"/>
              </a:defRPr>
            </a:pPr>
            <a:r>
              <a:t>Surface, Pavement, Clean, [Texture_Edit]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161848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9E9E9E"/>
                </a:solidFill>
                <a:latin typeface="Calibri"/>
              </a:defRPr>
            </a:pPr>
            <a:r>
              <a:t>⋮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0" y="1965960"/>
            <a:ext cx="0" cy="27432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0800000">
            <a:off x="5943600" y="219456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16752" y="202996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candidates L(x)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691640" y="2377440"/>
            <a:ext cx="10241280" cy="1554480"/>
          </a:xfrm>
          <a:prstGeom prst="roundRect">
            <a:avLst>
              <a:gd name="adj" fmla="val 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920240" y="2537460"/>
            <a:ext cx="1554480" cy="123444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274320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2000" b="1" i="0">
                <a:solidFill>
                  <a:srgbClr val="FFFFFF"/>
                </a:solidFill>
                <a:latin typeface="Cambria Math"/>
              </a:rPr>
              <a:t>G</a:t>
            </a:r>
          </a:p>
          <a:p>
            <a:pPr algn="ctr">
              <a:spcAft>
                <a:spcPts val="100"/>
              </a:spcAft>
            </a:pPr>
            <a:r>
              <a:rPr sz="800" b="0" i="0">
                <a:solidFill>
                  <a:srgbClr val="C8C8C8"/>
                </a:solidFill>
                <a:latin typeface="Calibri"/>
              </a:rPr>
              <a:t>Prompt-only Editor</a:t>
            </a:r>
          </a:p>
          <a:p>
            <a:pPr algn="ctr">
              <a:spcAft>
                <a:spcPts val="100"/>
              </a:spcAft>
            </a:pPr>
            <a:r>
              <a:rPr sz="700" b="0" i="1">
                <a:solidFill>
                  <a:srgbClr val="C8C8C8"/>
                </a:solidFill>
                <a:latin typeface="Calibri"/>
              </a:rPr>
              <a:t>(Qwen-Image-Edit)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11880" y="315468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4114800" y="310896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295351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T = 5 retries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2537460"/>
            <a:ext cx="22860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AAAAA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25740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4A4A4A"/>
                </a:solidFill>
                <a:latin typeface="Calibri"/>
              </a:defRPr>
            </a:pPr>
            <a:r>
              <a:t>Stochastic Generation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295351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E6E6E"/>
                </a:solidFill>
                <a:latin typeface="Calibri"/>
              </a:defRPr>
            </a:pPr>
            <a:r>
              <a:t>x'ᵢ,ⱼ = G(x; lᵢ, φⱼ)</a:t>
            </a:r>
          </a:p>
        </p:txBody>
      </p:sp>
      <p:pic>
        <p:nvPicPr>
          <p:cNvPr id="46" name="Picture 45" descr="image_edit_baseline_20260329_213947_999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200400"/>
            <a:ext cx="594360" cy="384048"/>
          </a:xfrm>
          <a:prstGeom prst="rect">
            <a:avLst/>
          </a:prstGeom>
        </p:spPr>
      </p:pic>
      <p:pic>
        <p:nvPicPr>
          <p:cNvPr id="47" name="Picture 46" descr="image_edit_baseline_20260329_213931_8515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200400"/>
            <a:ext cx="594360" cy="384048"/>
          </a:xfrm>
          <a:prstGeom prst="rect">
            <a:avLst/>
          </a:prstGeom>
        </p:spPr>
      </p:pic>
      <p:pic>
        <p:nvPicPr>
          <p:cNvPr id="48" name="Picture 47" descr="image_edit_baseline_20260329_232514_62235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200400"/>
            <a:ext cx="594360" cy="384048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6675120" y="315468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7178040" y="310896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295351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audit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0" y="2537460"/>
            <a:ext cx="2103120" cy="123444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Validity Audit</a:t>
            </a:r>
          </a:p>
          <a:p>
            <a:pPr algn="ctr">
              <a:spcAft>
                <a:spcPts val="100"/>
              </a:spcAft>
            </a:pPr>
            <a:r>
              <a:rPr sz="700" b="0" i="1">
                <a:solidFill>
                  <a:srgbClr val="C8C8C8"/>
                </a:solidFill>
                <a:latin typeface="Calibri"/>
              </a:rPr>
              <a:t>VLM Critic (GPT-5.4)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43800" y="3081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C8C8C8"/>
                </a:solidFill>
                <a:latin typeface="Calibri"/>
              </a:defRPr>
            </a:pPr>
            <a:r>
              <a:t>✓ Same-place preservation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32552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C8C8C8"/>
                </a:solidFill>
                <a:latin typeface="Calibri"/>
              </a:defRPr>
            </a:pPr>
            <a:r>
              <a:t>✓ Locality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4380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C8C8C8"/>
                </a:solidFill>
                <a:latin typeface="Calibri"/>
              </a:defRPr>
            </a:pPr>
            <a:r>
              <a:t>✓ Realism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602736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C8C8C8"/>
                </a:solidFill>
                <a:latin typeface="Calibri"/>
              </a:defRPr>
            </a:pPr>
            <a:r>
              <a:t>✓ Plausibility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555480" y="3154680"/>
            <a:ext cx="36576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9921240" y="310896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2953512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0" y="2537460"/>
            <a:ext cx="21031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58400" y="25557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4A4A4A"/>
                </a:solidFill>
                <a:latin typeface="Calibri"/>
              </a:defRPr>
            </a:pPr>
            <a:r>
              <a:t>Valid Edits  V(x)</a:t>
            </a:r>
          </a:p>
        </p:txBody>
      </p:sp>
      <p:pic>
        <p:nvPicPr>
          <p:cNvPr id="63" name="Picture 62" descr="image_edit_baseline_20260329_213947_999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2971800"/>
            <a:ext cx="731520" cy="4572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927080" y="297180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x̃₁: lane marking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27080" y="313639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     repainting</a:t>
            </a:r>
          </a:p>
        </p:txBody>
      </p:sp>
      <p:pic>
        <p:nvPicPr>
          <p:cNvPr id="66" name="Picture 65" descr="image_edit_baseline_20260329_213931_8515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474720"/>
            <a:ext cx="731520" cy="4572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927080" y="3474720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x̃₂: surface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27080" y="363931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     cleaning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943600" y="3977640"/>
            <a:ext cx="0" cy="18288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10800000">
            <a:off x="5943600" y="411480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16752" y="4041648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valid edits V(x)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91640" y="4297680"/>
            <a:ext cx="10241280" cy="1554480"/>
          </a:xfrm>
          <a:prstGeom prst="roundRect">
            <a:avLst>
              <a:gd name="adj" fmla="val 2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920240" y="4457700"/>
            <a:ext cx="1554480" cy="1234440"/>
          </a:xfrm>
          <a:prstGeom prst="roundRect">
            <a:avLst>
              <a:gd name="adj" fmla="val 18000"/>
            </a:avLst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20240" y="466344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mbria Math"/>
              </a:rPr>
              <a:t>fₐ</a:t>
            </a:r>
          </a:p>
          <a:p>
            <a:pPr algn="ctr">
              <a:spcAft>
                <a:spcPts val="100"/>
              </a:spcAft>
            </a:pPr>
            <a:r>
              <a:rPr sz="900" b="0" i="0">
                <a:solidFill>
                  <a:srgbClr val="C8C8C8"/>
                </a:solidFill>
                <a:latin typeface="Calibri"/>
              </a:rPr>
              <a:t>Safety Proxy</a:t>
            </a:r>
          </a:p>
          <a:p>
            <a:pPr algn="ctr">
              <a:spcAft>
                <a:spcPts val="100"/>
              </a:spcAft>
            </a:pPr>
            <a:r>
              <a:rPr sz="700" b="0" i="1">
                <a:solidFill>
                  <a:srgbClr val="C8C8C8"/>
                </a:solidFill>
                <a:latin typeface="Calibri"/>
              </a:rPr>
              <a:t>(ViT-B/16 Place Pulse)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611880" y="507492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4114800" y="502920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11880" y="4873752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 i="1">
                <a:solidFill>
                  <a:srgbClr val="9E9E9E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51960" y="4457700"/>
            <a:ext cx="22860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51960" y="449427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4A4A4A"/>
                </a:solidFill>
                <a:latin typeface="Calibri"/>
              </a:defRPr>
            </a:pPr>
            <a:r>
              <a:t>Auxiliary Scoring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51960" y="48188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A4A4A"/>
                </a:solidFill>
                <a:latin typeface="Calibri"/>
              </a:defRPr>
            </a:pPr>
            <a:r>
              <a:t>Δᵢ = fₐ(x̃ᵢ) − fₐ(x)</a:t>
            </a:r>
          </a:p>
        </p:txBody>
      </p:sp>
      <p:pic>
        <p:nvPicPr>
          <p:cNvPr id="81" name="Picture 80" descr="image_edit_baseline_20260329_213947_999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5120640"/>
            <a:ext cx="502920" cy="329184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937760" y="51663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4A4A4A"/>
                </a:solidFill>
                <a:latin typeface="Calibri"/>
              </a:defRPr>
            </a:pPr>
            <a:r>
              <a:t>+3.84</a:t>
            </a:r>
          </a:p>
        </p:txBody>
      </p:sp>
      <p:pic>
        <p:nvPicPr>
          <p:cNvPr id="83" name="Picture 82" descr="image_edit_baseline_20260329_232514_62235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5120640"/>
            <a:ext cx="502920" cy="32918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5989320" y="5166360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4A4A4A"/>
                </a:solidFill>
                <a:latin typeface="Calibri"/>
              </a:defRPr>
            </a:pPr>
            <a:r>
              <a:t>+3.25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1960" y="5486400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E9E9E"/>
                </a:solidFill>
                <a:latin typeface="Calibri"/>
              </a:defRPr>
            </a:pPr>
            <a:r>
              <a:t>Proxy for perceptual change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675120" y="5074920"/>
            <a:ext cx="50292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/>
          <p:cNvSpPr/>
          <p:nvPr/>
        </p:nvSpPr>
        <p:spPr>
          <a:xfrm rot="5400000">
            <a:off x="7178040" y="502920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315200" y="4457700"/>
            <a:ext cx="2103120" cy="12344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240">
            <a:solidFill>
              <a:srgbClr val="AAAAAA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0" y="47091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 i="0">
                <a:solidFill>
                  <a:srgbClr val="6E6E6E"/>
                </a:solidFill>
                <a:latin typeface="Calibri"/>
              </a:rPr>
              <a:t>Future Work</a:t>
            </a:r>
          </a:p>
          <a:p>
            <a:pPr algn="ctr">
              <a:spcAft>
                <a:spcPts val="100"/>
              </a:spcAft>
            </a:pPr>
            <a:r>
              <a:rPr sz="400" b="0" i="0">
                <a:solidFill>
                  <a:srgbClr val="6E6E6E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00" b="0" i="0">
                <a:solidFill>
                  <a:srgbClr val="9E9E9E"/>
                </a:solidFill>
                <a:latin typeface="Calibri"/>
              </a:rPr>
              <a:t>Human Pairwise Evaluation</a:t>
            </a:r>
          </a:p>
          <a:p>
            <a:pPr algn="ctr">
              <a:spcAft>
                <a:spcPts val="100"/>
              </a:spcAft>
            </a:pPr>
            <a:r>
              <a:rPr sz="700" b="0" i="1">
                <a:solidFill>
                  <a:srgbClr val="9E9E9E"/>
                </a:solidFill>
                <a:latin typeface="Calibri"/>
              </a:rPr>
              <a:t>(Randomised 2AFC)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555480" y="5074920"/>
            <a:ext cx="365760" cy="0"/>
          </a:xfrm>
          <a:prstGeom prst="line">
            <a:avLst/>
          </a:prstGeom>
          <a:ln w="19050">
            <a:solidFill>
              <a:srgbClr val="6E6E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Isosceles Triangle 90"/>
          <p:cNvSpPr/>
          <p:nvPr/>
        </p:nvSpPr>
        <p:spPr>
          <a:xfrm rot="5400000">
            <a:off x="9921240" y="5029200"/>
            <a:ext cx="91440" cy="91440"/>
          </a:xfrm>
          <a:prstGeom prst="triangle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058400" y="4457700"/>
            <a:ext cx="21031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A6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58400" y="447598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4A4A4A"/>
                </a:solidFill>
                <a:latin typeface="Calibri"/>
              </a:defRPr>
            </a:pPr>
            <a:r>
              <a:t>Lever Summaries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58400" y="478231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6E6E6E"/>
                </a:solidFill>
                <a:latin typeface="Calibri"/>
              </a:defRPr>
            </a:pPr>
            <a:r>
              <a:t>V(x) &amp; Score Shifts 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168128" y="5001768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Lane marking repaint.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521440" y="500176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4A4A4A"/>
                </a:solidFill>
                <a:latin typeface="Calibri"/>
              </a:defRPr>
            </a:pPr>
            <a:r>
              <a:t>Δ = +3.84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68128" y="5184648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Surface cleaning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521440" y="518464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4A4A4A"/>
                </a:solidFill>
                <a:latin typeface="Calibri"/>
              </a:defRPr>
            </a:pPr>
            <a:r>
              <a:t>Δ = +3.00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68128" y="5367528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Greenery addition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521440" y="536752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4A4A4A"/>
                </a:solidFill>
                <a:latin typeface="Calibri"/>
              </a:defRPr>
            </a:pPr>
            <a:r>
              <a:t>Δ = +3.25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68128" y="5550408"/>
            <a:ext cx="1325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4A4A4A"/>
                </a:solidFill>
                <a:latin typeface="Calibri"/>
              </a:defRPr>
            </a:pPr>
            <a:r>
              <a:t>Litter removal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521440" y="5550408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4A4A4A"/>
                </a:solidFill>
                <a:latin typeface="Calibri"/>
              </a:defRPr>
            </a:pPr>
            <a:r>
              <a:t>Δ = +2.91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8640" y="60807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 i="0">
                <a:solidFill>
                  <a:srgbClr val="6E6E6E"/>
                </a:solidFill>
                <a:latin typeface="Calibri"/>
              </a:rPr>
              <a:t>Lever-based interventional attribution pipeline. Each candidate is a structured lever intervention l = (c, s, d, τ) comprising a lever concept, spatial support, intervention direction, and constrained edit template. Phase 1 constructs scene-specific candidates from a curated ontology. Phase 2 performs bounded stochastic generation subject to a four-criterion validity audit. Phase 3 summarises accepted edits with auxiliary classifier scoring and, optionally, future human pairwise judgements.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